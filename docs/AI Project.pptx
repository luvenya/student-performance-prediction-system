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Sarpanch Ultra-Bold" charset="1" panose="00000900000000000000"/>
      <p:regular r:id="rId25"/>
    </p:embeddedFont>
    <p:embeddedFont>
      <p:font typeface="Proxima Nova" charset="1" panose="02000506030000020004"/>
      <p:regular r:id="rId26"/>
    </p:embeddedFont>
    <p:embeddedFont>
      <p:font typeface="Proxima Nova Bold" charset="1" panose="02000506030000020004"/>
      <p:regular r:id="rId27"/>
    </p:embeddedFont>
    <p:embeddedFont>
      <p:font typeface="Sarpanch" charset="1" panose="000005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jpe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jpe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75947" y="1511702"/>
            <a:ext cx="15736106" cy="181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1"/>
              </a:lnSpc>
            </a:pPr>
            <a:r>
              <a:rPr lang="en-US" b="true" sz="7562">
                <a:solidFill>
                  <a:srgbClr val="FFFFFF"/>
                </a:solidFill>
                <a:latin typeface="Sarpanch Ultra-Bold"/>
                <a:ea typeface="Sarpanch Ultra-Bold"/>
                <a:cs typeface="Sarpanch Ultra-Bold"/>
                <a:sym typeface="Sarpanch Ultra-Bold"/>
              </a:rPr>
              <a:t>STUDENT PERFORMANCE PREDICTION SYSTEM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90512" y="5422889"/>
            <a:ext cx="7506976" cy="3835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4"/>
              </a:lnSpc>
            </a:pPr>
            <a:r>
              <a:rPr lang="en-US" sz="311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Presented by:</a:t>
            </a:r>
          </a:p>
          <a:p>
            <a:pPr algn="l">
              <a:lnSpc>
                <a:spcPts val="4354"/>
              </a:lnSpc>
            </a:pPr>
          </a:p>
          <a:p>
            <a:pPr algn="l">
              <a:lnSpc>
                <a:spcPts val="4354"/>
              </a:lnSpc>
            </a:pPr>
            <a:r>
              <a:rPr lang="en-US" sz="311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Shiam Md Obidur Rahman - 2410-2050</a:t>
            </a:r>
          </a:p>
          <a:p>
            <a:pPr algn="l">
              <a:lnSpc>
                <a:spcPts val="4354"/>
              </a:lnSpc>
            </a:pPr>
            <a:r>
              <a:rPr lang="en-US" sz="311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Shahad Muaaz Eltayeb - 2410 - 2468</a:t>
            </a:r>
          </a:p>
          <a:p>
            <a:pPr algn="l">
              <a:lnSpc>
                <a:spcPts val="4354"/>
              </a:lnSpc>
            </a:pPr>
            <a:r>
              <a:rPr lang="en-US" sz="311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Rifa Most Nafisa Islam - 2410-2048</a:t>
            </a:r>
          </a:p>
          <a:p>
            <a:pPr algn="l">
              <a:lnSpc>
                <a:spcPts val="4354"/>
              </a:lnSpc>
            </a:pPr>
            <a:r>
              <a:rPr lang="en-US" sz="311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Luvenya A/P Nuekey Nicholas - 2410-1699</a:t>
            </a:r>
          </a:p>
          <a:p>
            <a:pPr algn="l">
              <a:lnSpc>
                <a:spcPts val="435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539333" y="4041278"/>
            <a:ext cx="9209333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BIT4543 –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56513" y="2387095"/>
            <a:ext cx="5502787" cy="5512810"/>
          </a:xfrm>
          <a:custGeom>
            <a:avLst/>
            <a:gdLst/>
            <a:ahLst/>
            <a:cxnLst/>
            <a:rect r="r" b="b" t="t" l="l"/>
            <a:pathLst>
              <a:path h="5512810" w="5502787">
                <a:moveTo>
                  <a:pt x="0" y="0"/>
                </a:moveTo>
                <a:lnTo>
                  <a:pt x="5502787" y="0"/>
                </a:lnTo>
                <a:lnTo>
                  <a:pt x="5502787" y="5512810"/>
                </a:lnTo>
                <a:lnTo>
                  <a:pt x="0" y="55128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90058" y="1304925"/>
            <a:ext cx="9377744" cy="353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12"/>
              </a:lnSpc>
            </a:pPr>
            <a:r>
              <a:rPr lang="en-US" sz="13749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Project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90058" y="5509260"/>
            <a:ext cx="10166455" cy="374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Educational institutions collect large amounts of student and learning data.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Traditional monitoring often depends on examinations, assessments and manual reviews.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Students experiencing academic difficulties may therefore be identified too late.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AI and Machine Learning can analyse student data and identify patterns.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Early identification can support timely academic intervention.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814385" y="4926330"/>
            <a:ext cx="683663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Why Student Performance Prediction?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28700" y="37855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34754" y="550005"/>
            <a:ext cx="12071478" cy="2358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46"/>
              </a:lnSpc>
            </a:pPr>
            <a:r>
              <a:rPr lang="en-US" sz="9137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Problem Statement &amp; Research Gap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68494" y="3916950"/>
            <a:ext cx="5991495" cy="5991495"/>
          </a:xfrm>
          <a:custGeom>
            <a:avLst/>
            <a:gdLst/>
            <a:ahLst/>
            <a:cxnLst/>
            <a:rect r="r" b="b" t="t" l="l"/>
            <a:pathLst>
              <a:path h="5991495" w="5991495">
                <a:moveTo>
                  <a:pt x="0" y="0"/>
                </a:moveTo>
                <a:lnTo>
                  <a:pt x="5991495" y="0"/>
                </a:lnTo>
                <a:lnTo>
                  <a:pt x="5991495" y="5991495"/>
                </a:lnTo>
                <a:lnTo>
                  <a:pt x="0" y="59914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57578" y="9034566"/>
            <a:ext cx="1576679" cy="745339"/>
          </a:xfrm>
          <a:custGeom>
            <a:avLst/>
            <a:gdLst/>
            <a:ahLst/>
            <a:cxnLst/>
            <a:rect r="r" b="b" t="t" l="l"/>
            <a:pathLst>
              <a:path h="745339" w="1576679">
                <a:moveTo>
                  <a:pt x="0" y="0"/>
                </a:moveTo>
                <a:lnTo>
                  <a:pt x="1576679" y="0"/>
                </a:lnTo>
                <a:lnTo>
                  <a:pt x="1576679" y="745339"/>
                </a:lnTo>
                <a:lnTo>
                  <a:pt x="0" y="7453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73822" y="4488450"/>
            <a:ext cx="9085478" cy="456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1. Delayed Risk Identification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Students may only be identified after poor examination/assessment results.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2. Lack of Predictive Insights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Manual monitoring does not easily predict future academic outcomes.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3. Ineffective Intervention Alignment</a:t>
            </a:r>
          </a:p>
          <a:p>
            <a:pPr algn="l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Advisors may know a student is struggling but not which intervention should be prioritised.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028502" y="3470919"/>
            <a:ext cx="7872702" cy="628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9"/>
              </a:lnSpc>
              <a:spcBef>
                <a:spcPct val="0"/>
              </a:spcBef>
            </a:pPr>
            <a:r>
              <a:rPr lang="en-US" b="true" sz="3742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Existing Problem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53879" y="1028700"/>
            <a:ext cx="6005421" cy="5896232"/>
            <a:chOff x="0" y="0"/>
            <a:chExt cx="8007228" cy="78616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665983" y="1187621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007228" cy="7861642"/>
            </a:xfrm>
            <a:custGeom>
              <a:avLst/>
              <a:gdLst/>
              <a:ahLst/>
              <a:cxnLst/>
              <a:rect r="r" b="b" t="t" l="l"/>
              <a:pathLst>
                <a:path h="7861642" w="8007228">
                  <a:moveTo>
                    <a:pt x="0" y="0"/>
                  </a:moveTo>
                  <a:lnTo>
                    <a:pt x="8007228" y="0"/>
                  </a:lnTo>
                  <a:lnTo>
                    <a:pt x="8007228" y="7861642"/>
                  </a:lnTo>
                  <a:lnTo>
                    <a:pt x="0" y="7861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700030" y="2600792"/>
            <a:ext cx="7767537" cy="3810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4"/>
              </a:lnSpc>
            </a:pPr>
            <a:r>
              <a:rPr lang="en-US" sz="2717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Prediction alone is not enough.</a:t>
            </a:r>
          </a:p>
          <a:p>
            <a:pPr algn="l">
              <a:lnSpc>
                <a:spcPts val="3804"/>
              </a:lnSpc>
            </a:pPr>
          </a:p>
          <a:p>
            <a:pPr algn="l">
              <a:lnSpc>
                <a:spcPts val="3804"/>
              </a:lnSpc>
            </a:pPr>
            <a:r>
              <a:rPr lang="en-US" sz="2717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 prediction does not automatically tell us:</a:t>
            </a:r>
          </a:p>
          <a:p>
            <a:pPr algn="l" marL="586650" indent="-293325" lvl="1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What factor is causing the risk?</a:t>
            </a:r>
          </a:p>
          <a:p>
            <a:pPr algn="l" marL="586650" indent="-293325" lvl="1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What action should be taken?</a:t>
            </a:r>
          </a:p>
          <a:p>
            <a:pPr algn="l" marL="586650" indent="-293325" lvl="1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How should the recommendation be communicated?</a:t>
            </a:r>
          </a:p>
          <a:p>
            <a:pPr algn="l">
              <a:lnSpc>
                <a:spcPts val="3804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53027" y="6818666"/>
            <a:ext cx="12550754" cy="243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05"/>
              </a:lnSpc>
            </a:pPr>
            <a:r>
              <a:rPr lang="en-US" sz="950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Problem Statement &amp; Research Gap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30909" y="1650427"/>
            <a:ext cx="7872702" cy="628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9"/>
              </a:lnSpc>
              <a:spcBef>
                <a:spcPct val="0"/>
              </a:spcBef>
            </a:pPr>
            <a:r>
              <a:rPr lang="en-US" b="true" sz="3742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Research Gap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11" r="0" b="-8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68410" y="4156973"/>
            <a:ext cx="2393845" cy="2393845"/>
          </a:xfrm>
          <a:custGeom>
            <a:avLst/>
            <a:gdLst/>
            <a:ahLst/>
            <a:cxnLst/>
            <a:rect r="r" b="b" t="t" l="l"/>
            <a:pathLst>
              <a:path h="2393845" w="2393845">
                <a:moveTo>
                  <a:pt x="0" y="0"/>
                </a:moveTo>
                <a:lnTo>
                  <a:pt x="2393845" y="0"/>
                </a:lnTo>
                <a:lnTo>
                  <a:pt x="2393845" y="2393845"/>
                </a:lnTo>
                <a:lnTo>
                  <a:pt x="0" y="2393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614" y="4156973"/>
            <a:ext cx="2393845" cy="2393845"/>
          </a:xfrm>
          <a:custGeom>
            <a:avLst/>
            <a:gdLst/>
            <a:ahLst/>
            <a:cxnLst/>
            <a:rect r="r" b="b" t="t" l="l"/>
            <a:pathLst>
              <a:path h="2393845" w="2393845">
                <a:moveTo>
                  <a:pt x="0" y="0"/>
                </a:moveTo>
                <a:lnTo>
                  <a:pt x="2393845" y="0"/>
                </a:lnTo>
                <a:lnTo>
                  <a:pt x="2393845" y="2393845"/>
                </a:lnTo>
                <a:lnTo>
                  <a:pt x="0" y="23938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968399" y="4156973"/>
            <a:ext cx="2393845" cy="2393845"/>
          </a:xfrm>
          <a:custGeom>
            <a:avLst/>
            <a:gdLst/>
            <a:ahLst/>
            <a:cxnLst/>
            <a:rect r="r" b="b" t="t" l="l"/>
            <a:pathLst>
              <a:path h="2393845" w="2393845">
                <a:moveTo>
                  <a:pt x="0" y="0"/>
                </a:moveTo>
                <a:lnTo>
                  <a:pt x="2393845" y="0"/>
                </a:lnTo>
                <a:lnTo>
                  <a:pt x="2393845" y="2393845"/>
                </a:lnTo>
                <a:lnTo>
                  <a:pt x="0" y="23938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89129" y="6849767"/>
            <a:ext cx="2333330" cy="153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sz="2196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Develop an AI-based Student Performance Prediction System.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1175" y="1853885"/>
            <a:ext cx="14905650" cy="1477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11111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Project Objectives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94909" y="4156973"/>
            <a:ext cx="2393845" cy="2393845"/>
          </a:xfrm>
          <a:custGeom>
            <a:avLst/>
            <a:gdLst/>
            <a:ahLst/>
            <a:cxnLst/>
            <a:rect r="r" b="b" t="t" l="l"/>
            <a:pathLst>
              <a:path h="2393845" w="2393845">
                <a:moveTo>
                  <a:pt x="0" y="0"/>
                </a:moveTo>
                <a:lnTo>
                  <a:pt x="2393845" y="0"/>
                </a:lnTo>
                <a:lnTo>
                  <a:pt x="2393845" y="2393845"/>
                </a:lnTo>
                <a:lnTo>
                  <a:pt x="0" y="2393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31654" y="4156973"/>
            <a:ext cx="2393845" cy="2393845"/>
          </a:xfrm>
          <a:custGeom>
            <a:avLst/>
            <a:gdLst/>
            <a:ahLst/>
            <a:cxnLst/>
            <a:rect r="r" b="b" t="t" l="l"/>
            <a:pathLst>
              <a:path h="2393845" w="2393845">
                <a:moveTo>
                  <a:pt x="0" y="0"/>
                </a:moveTo>
                <a:lnTo>
                  <a:pt x="2393845" y="0"/>
                </a:lnTo>
                <a:lnTo>
                  <a:pt x="2393845" y="2393845"/>
                </a:lnTo>
                <a:lnTo>
                  <a:pt x="0" y="2393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700965" y="4156973"/>
            <a:ext cx="2393845" cy="2393845"/>
          </a:xfrm>
          <a:custGeom>
            <a:avLst/>
            <a:gdLst/>
            <a:ahLst/>
            <a:cxnLst/>
            <a:rect r="r" b="b" t="t" l="l"/>
            <a:pathLst>
              <a:path h="2393845" w="2393845">
                <a:moveTo>
                  <a:pt x="0" y="0"/>
                </a:moveTo>
                <a:lnTo>
                  <a:pt x="2393846" y="0"/>
                </a:lnTo>
                <a:lnTo>
                  <a:pt x="2393846" y="2393845"/>
                </a:lnTo>
                <a:lnTo>
                  <a:pt x="0" y="23938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98668" y="7044305"/>
            <a:ext cx="2333330" cy="114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sz="2196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Prepare and process student data from OULAD.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5166" y="6849767"/>
            <a:ext cx="2333330" cy="153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sz="2196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Develop and evaluate a Random Forest model.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92169" y="6849767"/>
            <a:ext cx="2333330" cy="153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sz="2196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Develop a knowledge base and rule-based risk workflow.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28914" y="6849767"/>
            <a:ext cx="2333330" cy="153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sz="2196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Integrate Generative AI for intervention recommendations.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00394" y="6849767"/>
            <a:ext cx="2333330" cy="153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sz="2196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Develop an application prototype for user interaction.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43773" y="6780439"/>
            <a:ext cx="4144945" cy="4114800"/>
          </a:xfrm>
          <a:custGeom>
            <a:avLst/>
            <a:gdLst/>
            <a:ahLst/>
            <a:cxnLst/>
            <a:rect r="r" b="b" t="t" l="l"/>
            <a:pathLst>
              <a:path h="4114800" w="4144945">
                <a:moveTo>
                  <a:pt x="0" y="0"/>
                </a:moveTo>
                <a:lnTo>
                  <a:pt x="4144946" y="0"/>
                </a:lnTo>
                <a:lnTo>
                  <a:pt x="41449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21220" y="1580972"/>
            <a:ext cx="11598921" cy="114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59"/>
              </a:lnSpc>
            </a:pPr>
            <a:r>
              <a:rPr lang="en-US" sz="8646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Data Collection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47000" y="4046872"/>
            <a:ext cx="7987002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OULAD provides anonymised educational data, including: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Student information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Course/module information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Registration information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Assessment information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Assessment results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Virtual Learning Environment (VLE) activities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215142" y="-2948116"/>
            <a:ext cx="6005421" cy="5896232"/>
            <a:chOff x="0" y="0"/>
            <a:chExt cx="8007228" cy="78616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65983" y="1187621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007228" cy="7861642"/>
            </a:xfrm>
            <a:custGeom>
              <a:avLst/>
              <a:gdLst/>
              <a:ahLst/>
              <a:cxnLst/>
              <a:rect r="r" b="b" t="t" l="l"/>
              <a:pathLst>
                <a:path h="7861642" w="8007228">
                  <a:moveTo>
                    <a:pt x="0" y="0"/>
                  </a:moveTo>
                  <a:lnTo>
                    <a:pt x="8007228" y="0"/>
                  </a:lnTo>
                  <a:lnTo>
                    <a:pt x="8007228" y="7861642"/>
                  </a:lnTo>
                  <a:lnTo>
                    <a:pt x="0" y="7861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3265187"/>
            <a:ext cx="1096734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Open University Learning Analytics Dataset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20375" y="5721694"/>
            <a:ext cx="2607659" cy="46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0"/>
              </a:lnSpc>
              <a:spcBef>
                <a:spcPct val="0"/>
              </a:spcBef>
            </a:pPr>
            <a:r>
              <a:rPr lang="en-US" b="true" sz="2750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Dataset Scale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20141" y="6510186"/>
            <a:ext cx="4558002" cy="249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32,593 students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22 course presentations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F</a:t>
            </a: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or the final implemented model: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26,074 </a:t>
            </a: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students → training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6,519 students → testing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44" t="0" r="-34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11264" y="19379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54443" y="608690"/>
            <a:ext cx="11443692" cy="223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9"/>
              </a:lnSpc>
            </a:pPr>
            <a:r>
              <a:rPr lang="en-US" sz="8646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Data Preprocessing &amp; Features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8098" y="4251442"/>
            <a:ext cx="14170850" cy="892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9"/>
              </a:lnSpc>
            </a:pPr>
            <a:r>
              <a:rPr lang="en-US" sz="2578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The workflow included:</a:t>
            </a:r>
          </a:p>
          <a:p>
            <a:pPr algn="l">
              <a:lnSpc>
                <a:spcPts val="3609"/>
              </a:lnSpc>
              <a:spcBef>
                <a:spcPct val="0"/>
              </a:spcBef>
            </a:pPr>
            <a:r>
              <a:rPr lang="en-US" sz="2578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Data Loading → Inspection → Feature Selection/Engineering → Target Preparation → Train/Test Split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9733" y="3469757"/>
            <a:ext cx="2987713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Data Preparation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09667" y="5931581"/>
            <a:ext cx="2987713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Main 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71838" y="6766560"/>
            <a:ext cx="5944324" cy="249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The report describes the implemented model as using: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Average assessment score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Assessment count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Studied credits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Number of previous attempts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50166" y="6732951"/>
            <a:ext cx="5098769" cy="249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The final prediction target contains four outcome classes: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Distinction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Pass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Fail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Withdrawn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80951" y="5931581"/>
            <a:ext cx="2987713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Outcome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322741"/>
            <a:ext cx="2987713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Dataset Split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5022" y="7119031"/>
            <a:ext cx="3977134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80% Training / 20% Testing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Tra</a:t>
            </a: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ining: 26,074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Testing: 6,519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37323" y="-816429"/>
            <a:ext cx="5968959" cy="5665085"/>
          </a:xfrm>
          <a:custGeom>
            <a:avLst/>
            <a:gdLst/>
            <a:ahLst/>
            <a:cxnLst/>
            <a:rect r="r" b="b" t="t" l="l"/>
            <a:pathLst>
              <a:path h="5665085" w="5968959">
                <a:moveTo>
                  <a:pt x="0" y="0"/>
                </a:moveTo>
                <a:lnTo>
                  <a:pt x="5968959" y="0"/>
                </a:lnTo>
                <a:lnTo>
                  <a:pt x="5968959" y="5665086"/>
                </a:lnTo>
                <a:lnTo>
                  <a:pt x="0" y="56650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6501988">
            <a:off x="-1937446" y="6816377"/>
            <a:ext cx="5968959" cy="5665085"/>
          </a:xfrm>
          <a:custGeom>
            <a:avLst/>
            <a:gdLst/>
            <a:ahLst/>
            <a:cxnLst/>
            <a:rect r="r" b="b" t="t" l="l"/>
            <a:pathLst>
              <a:path h="5665085" w="5968959">
                <a:moveTo>
                  <a:pt x="0" y="0"/>
                </a:moveTo>
                <a:lnTo>
                  <a:pt x="5968959" y="0"/>
                </a:lnTo>
                <a:lnTo>
                  <a:pt x="5968959" y="5665085"/>
                </a:lnTo>
                <a:lnTo>
                  <a:pt x="0" y="56650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94616" y="6001605"/>
            <a:ext cx="5264684" cy="3609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370"/>
              </a:lnSpc>
            </a:pPr>
            <a:r>
              <a:rPr lang="en-US" sz="9465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Machine Learning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0322" y="971550"/>
            <a:ext cx="5327334" cy="464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Random Forest Classifier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Why Random Forest?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Suitable for classification.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Works well with structured/tabular data.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Can model non-linear relationships.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Combines multiple decision trees.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Provides feature importance information.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819106" y="3684270"/>
            <a:ext cx="4649788" cy="374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Student Data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↓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Feature Processing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↓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Random Forest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↓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Prediction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↓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Distinction / Pass / Fail / Withdrawn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31200" y="2872740"/>
            <a:ext cx="2425601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Model Workflow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725745" y="735456"/>
            <a:ext cx="6814978" cy="8777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3"/>
              </a:lnSpc>
            </a:pPr>
            <a:r>
              <a:rPr lang="en-US" sz="240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OULAD Dataset</a:t>
            </a:r>
          </a:p>
          <a:p>
            <a:pPr algn="ctr">
              <a:lnSpc>
                <a:spcPts val="3373"/>
              </a:lnSpc>
            </a:pPr>
            <a:r>
              <a:rPr lang="en-US" sz="240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↓</a:t>
            </a:r>
          </a:p>
          <a:p>
            <a:pPr algn="ctr">
              <a:lnSpc>
                <a:spcPts val="3373"/>
              </a:lnSpc>
            </a:pPr>
            <a:r>
              <a:rPr lang="en-US" sz="240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Data </a:t>
            </a:r>
            <a:r>
              <a:rPr lang="en-US" sz="240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Processing</a:t>
            </a:r>
          </a:p>
          <a:p>
            <a:pPr algn="ctr">
              <a:lnSpc>
                <a:spcPts val="3373"/>
              </a:lnSpc>
            </a:pPr>
            <a:r>
              <a:rPr lang="en-US" sz="240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↓</a:t>
            </a:r>
          </a:p>
          <a:p>
            <a:pPr algn="ctr">
              <a:lnSpc>
                <a:spcPts val="3373"/>
              </a:lnSpc>
            </a:pPr>
            <a:r>
              <a:rPr lang="en-US" sz="240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Machine Learning Random Forest</a:t>
            </a:r>
          </a:p>
          <a:p>
            <a:pPr algn="ctr">
              <a:lnSpc>
                <a:spcPts val="3373"/>
              </a:lnSpc>
            </a:pPr>
            <a:r>
              <a:rPr lang="en-US" sz="240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↓</a:t>
            </a:r>
          </a:p>
          <a:p>
            <a:pPr algn="ctr">
              <a:lnSpc>
                <a:spcPts val="3373"/>
              </a:lnSpc>
            </a:pPr>
            <a:r>
              <a:rPr lang="en-US" sz="240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Prediction Result</a:t>
            </a:r>
          </a:p>
          <a:p>
            <a:pPr algn="ctr">
              <a:lnSpc>
                <a:spcPts val="3373"/>
              </a:lnSpc>
            </a:pPr>
            <a:r>
              <a:rPr lang="en-US" sz="240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↓</a:t>
            </a:r>
          </a:p>
          <a:p>
            <a:pPr algn="ctr">
              <a:lnSpc>
                <a:spcPts val="3373"/>
              </a:lnSpc>
            </a:pPr>
            <a:r>
              <a:rPr lang="en-US" sz="240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Risk Workflow    </a:t>
            </a:r>
          </a:p>
          <a:p>
            <a:pPr algn="ctr">
              <a:lnSpc>
                <a:spcPts val="3373"/>
              </a:lnSpc>
            </a:pPr>
            <a:r>
              <a:rPr lang="en-US" sz="240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↓</a:t>
            </a:r>
          </a:p>
          <a:p>
            <a:pPr algn="ctr">
              <a:lnSpc>
                <a:spcPts val="3373"/>
              </a:lnSpc>
            </a:pPr>
            <a:r>
              <a:rPr lang="en-US" sz="240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Risk Factor Rules</a:t>
            </a:r>
          </a:p>
          <a:p>
            <a:pPr algn="ctr">
              <a:lnSpc>
                <a:spcPts val="3373"/>
              </a:lnSpc>
            </a:pPr>
            <a:r>
              <a:rPr lang="en-US" sz="240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↓</a:t>
            </a:r>
          </a:p>
          <a:p>
            <a:pPr algn="ctr">
              <a:lnSpc>
                <a:spcPts val="3373"/>
              </a:lnSpc>
            </a:pPr>
            <a:r>
              <a:rPr lang="en-US" sz="240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JSON Knowledge Base</a:t>
            </a:r>
          </a:p>
          <a:p>
            <a:pPr algn="ctr">
              <a:lnSpc>
                <a:spcPts val="3373"/>
              </a:lnSpc>
            </a:pPr>
            <a:r>
              <a:rPr lang="en-US" sz="240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↓</a:t>
            </a:r>
          </a:p>
          <a:p>
            <a:pPr algn="ctr">
              <a:lnSpc>
                <a:spcPts val="3373"/>
              </a:lnSpc>
            </a:pPr>
            <a:r>
              <a:rPr lang="en-US" sz="240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Prompt Engineering</a:t>
            </a:r>
          </a:p>
          <a:p>
            <a:pPr algn="ctr">
              <a:lnSpc>
                <a:spcPts val="3373"/>
              </a:lnSpc>
            </a:pPr>
            <a:r>
              <a:rPr lang="en-US" sz="240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↓</a:t>
            </a:r>
          </a:p>
          <a:p>
            <a:pPr algn="ctr">
              <a:lnSpc>
                <a:spcPts val="3373"/>
              </a:lnSpc>
            </a:pPr>
            <a:r>
              <a:rPr lang="en-US" sz="240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Gemini API</a:t>
            </a:r>
          </a:p>
          <a:p>
            <a:pPr algn="ctr">
              <a:lnSpc>
                <a:spcPts val="3373"/>
              </a:lnSpc>
            </a:pPr>
            <a:r>
              <a:rPr lang="en-US" sz="240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↓</a:t>
            </a:r>
          </a:p>
          <a:p>
            <a:pPr algn="ctr">
              <a:lnSpc>
                <a:spcPts val="3373"/>
              </a:lnSpc>
            </a:pPr>
            <a:r>
              <a:rPr lang="en-US" sz="240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AI Intervention Advice</a:t>
            </a:r>
          </a:p>
          <a:p>
            <a:pPr algn="ctr">
              <a:lnSpc>
                <a:spcPts val="3373"/>
              </a:lnSpc>
            </a:pPr>
            <a:r>
              <a:rPr lang="en-US" sz="240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↓</a:t>
            </a:r>
          </a:p>
          <a:p>
            <a:pPr algn="ctr">
              <a:lnSpc>
                <a:spcPts val="3373"/>
              </a:lnSpc>
              <a:spcBef>
                <a:spcPct val="0"/>
              </a:spcBef>
            </a:pPr>
            <a:r>
              <a:rPr lang="en-US" sz="240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Application UI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07026" y="2030930"/>
            <a:ext cx="8844671" cy="263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4"/>
              </a:lnSpc>
            </a:pPr>
            <a:r>
              <a:rPr lang="en-US" sz="10236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System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77001" y="5105400"/>
            <a:ext cx="3704531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Main Layers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Dataset Layer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Data Processing Layer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Machine Learning Layer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Knowledge Layer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AI Workflow Layer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Application Layer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00" t="0" r="-100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6472238" cy="6472238"/>
          </a:xfrm>
          <a:custGeom>
            <a:avLst/>
            <a:gdLst/>
            <a:ahLst/>
            <a:cxnLst/>
            <a:rect r="r" b="b" t="t" l="l"/>
            <a:pathLst>
              <a:path h="6472238" w="6472238">
                <a:moveTo>
                  <a:pt x="0" y="0"/>
                </a:moveTo>
                <a:lnTo>
                  <a:pt x="6472238" y="0"/>
                </a:lnTo>
                <a:lnTo>
                  <a:pt x="6472238" y="6472238"/>
                </a:lnTo>
                <a:lnTo>
                  <a:pt x="0" y="6472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89614" y="6253266"/>
            <a:ext cx="3083719" cy="3083719"/>
          </a:xfrm>
          <a:custGeom>
            <a:avLst/>
            <a:gdLst/>
            <a:ahLst/>
            <a:cxnLst/>
            <a:rect r="r" b="b" t="t" l="l"/>
            <a:pathLst>
              <a:path h="3083719" w="3083719">
                <a:moveTo>
                  <a:pt x="0" y="0"/>
                </a:moveTo>
                <a:lnTo>
                  <a:pt x="3083719" y="0"/>
                </a:lnTo>
                <a:lnTo>
                  <a:pt x="3083719" y="3083719"/>
                </a:lnTo>
                <a:lnTo>
                  <a:pt x="0" y="30837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920734" y="5069256"/>
            <a:ext cx="7149683" cy="2310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The knowledge base is stored in JSON format.</a:t>
            </a:r>
          </a:p>
          <a:p>
            <a:pPr algn="l">
              <a:lnSpc>
                <a:spcPts val="3721"/>
              </a:lnSpc>
            </a:pPr>
            <a:r>
              <a:rPr lang="en-US" sz="2658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Three Risk Levels -</a:t>
            </a:r>
          </a:p>
          <a:p>
            <a:pPr algn="l" marL="573981" indent="-286991" lvl="1">
              <a:lnSpc>
                <a:spcPts val="3721"/>
              </a:lnSpc>
              <a:buFont typeface="Arial"/>
              <a:buChar char="•"/>
            </a:pPr>
            <a:r>
              <a:rPr lang="en-US" sz="2658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Low</a:t>
            </a:r>
          </a:p>
          <a:p>
            <a:pPr algn="l" marL="573981" indent="-286991" lvl="1">
              <a:lnSpc>
                <a:spcPts val="3721"/>
              </a:lnSpc>
              <a:buFont typeface="Arial"/>
              <a:buChar char="•"/>
            </a:pPr>
            <a:r>
              <a:rPr lang="en-US" sz="2658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Medium</a:t>
            </a:r>
          </a:p>
          <a:p>
            <a:pPr algn="l" marL="573981" indent="-286991" lvl="1">
              <a:lnSpc>
                <a:spcPts val="3721"/>
              </a:lnSpc>
              <a:buFont typeface="Arial"/>
              <a:buChar char="•"/>
            </a:pPr>
            <a:r>
              <a:rPr lang="en-US" sz="2658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High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80614" y="808640"/>
            <a:ext cx="7845009" cy="3470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989"/>
              </a:lnSpc>
            </a:pPr>
            <a:r>
              <a:rPr lang="en-US" sz="9079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Knowledge Base &amp; Risk Detection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96921" y="6631342"/>
            <a:ext cx="3706231" cy="2279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633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Four Main Risk Factors</a:t>
            </a:r>
          </a:p>
          <a:p>
            <a:pPr algn="l" marL="568530" indent="-284265" lvl="1">
              <a:lnSpc>
                <a:spcPts val="3686"/>
              </a:lnSpc>
              <a:buFont typeface="Arial"/>
              <a:buChar char="•"/>
            </a:pPr>
            <a:r>
              <a:rPr lang="en-US" sz="2633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Low GPA</a:t>
            </a:r>
          </a:p>
          <a:p>
            <a:pPr algn="l" marL="568530" indent="-284265" lvl="1">
              <a:lnSpc>
                <a:spcPts val="3686"/>
              </a:lnSpc>
              <a:buFont typeface="Arial"/>
              <a:buChar char="•"/>
            </a:pPr>
            <a:r>
              <a:rPr lang="en-US" sz="2633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Poor Attendance</a:t>
            </a:r>
          </a:p>
          <a:p>
            <a:pPr algn="l" marL="568530" indent="-284265" lvl="1">
              <a:lnSpc>
                <a:spcPts val="3686"/>
              </a:lnSpc>
              <a:buFont typeface="Arial"/>
              <a:buChar char="•"/>
            </a:pPr>
            <a:r>
              <a:rPr lang="en-US" sz="2633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Missed Assignments</a:t>
            </a:r>
          </a:p>
          <a:p>
            <a:pPr algn="l" marL="568530" indent="-284265" lvl="1">
              <a:lnSpc>
                <a:spcPts val="3686"/>
              </a:lnSpc>
              <a:buFont typeface="Arial"/>
              <a:buChar char="•"/>
            </a:pPr>
            <a:r>
              <a:rPr lang="en-US" sz="2633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Low Participation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693" t="0" r="-2969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1549" y="966354"/>
            <a:ext cx="6977751" cy="812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1. Student Risk Profile</a:t>
            </a:r>
          </a:p>
          <a:p>
            <a:pPr algn="l">
              <a:lnSpc>
                <a:spcPts val="3842"/>
              </a:lnSpc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 ↓  </a:t>
            </a:r>
          </a:p>
          <a:p>
            <a:pPr algn="l">
              <a:lnSpc>
                <a:spcPts val="3842"/>
              </a:lnSpc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2. Identify Risk Factors</a:t>
            </a:r>
          </a:p>
          <a:p>
            <a:pPr algn="l">
              <a:lnSpc>
                <a:spcPts val="3842"/>
              </a:lnSpc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 ↓</a:t>
            </a:r>
          </a:p>
          <a:p>
            <a:pPr algn="l">
              <a:lnSpc>
                <a:spcPts val="3842"/>
              </a:lnSpc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3. Retrieve Risk-Level Guidance</a:t>
            </a:r>
          </a:p>
          <a:p>
            <a:pPr algn="l">
              <a:lnSpc>
                <a:spcPts val="3842"/>
              </a:lnSpc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 ↓</a:t>
            </a:r>
          </a:p>
          <a:p>
            <a:pPr algn="l">
              <a:lnSpc>
                <a:spcPts val="3842"/>
              </a:lnSpc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4. Retrieve Risk-Factor Guidance</a:t>
            </a:r>
          </a:p>
          <a:p>
            <a:pPr algn="l">
              <a:lnSpc>
                <a:spcPts val="3842"/>
              </a:lnSpc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 ↓</a:t>
            </a:r>
          </a:p>
          <a:p>
            <a:pPr algn="l">
              <a:lnSpc>
                <a:spcPts val="3842"/>
              </a:lnSpc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5. Build Knowledge Context</a:t>
            </a:r>
          </a:p>
          <a:p>
            <a:pPr algn="l">
              <a:lnSpc>
                <a:spcPts val="3842"/>
              </a:lnSpc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 ↓</a:t>
            </a:r>
          </a:p>
          <a:p>
            <a:pPr algn="l">
              <a:lnSpc>
                <a:spcPts val="3842"/>
              </a:lnSpc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6. Add Student Information</a:t>
            </a:r>
          </a:p>
          <a:p>
            <a:pPr algn="l">
              <a:lnSpc>
                <a:spcPts val="3842"/>
              </a:lnSpc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 ↓</a:t>
            </a:r>
          </a:p>
          <a:p>
            <a:pPr algn="l">
              <a:lnSpc>
                <a:spcPts val="3842"/>
              </a:lnSpc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7. Apply Prompt Engineering</a:t>
            </a:r>
          </a:p>
          <a:p>
            <a:pPr algn="l">
              <a:lnSpc>
                <a:spcPts val="3842"/>
              </a:lnSpc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 ↓</a:t>
            </a:r>
          </a:p>
          <a:p>
            <a:pPr algn="l">
              <a:lnSpc>
                <a:spcPts val="3842"/>
              </a:lnSpc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8. Send to Gemini API</a:t>
            </a:r>
          </a:p>
          <a:p>
            <a:pPr algn="l">
              <a:lnSpc>
                <a:spcPts val="3842"/>
              </a:lnSpc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 ↓</a:t>
            </a:r>
          </a:p>
          <a:p>
            <a:pPr algn="l">
              <a:lnSpc>
                <a:spcPts val="3842"/>
              </a:lnSpc>
              <a:spcBef>
                <a:spcPct val="0"/>
              </a:spcBef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9. Generate Intervention Recommendation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11080" y="1156854"/>
            <a:ext cx="6547649" cy="290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2"/>
              </a:lnSpc>
            </a:pPr>
            <a:r>
              <a:rPr lang="en-US" sz="7578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AI Workflow &amp; Gemini Integration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1080" y="5236880"/>
            <a:ext cx="8152833" cy="127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How does the AI generate recommendations?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473967" y="7743226"/>
            <a:ext cx="10517742" cy="6693109"/>
          </a:xfrm>
          <a:custGeom>
            <a:avLst/>
            <a:gdLst/>
            <a:ahLst/>
            <a:cxnLst/>
            <a:rect r="r" b="b" t="t" l="l"/>
            <a:pathLst>
              <a:path h="6693109" w="10517742">
                <a:moveTo>
                  <a:pt x="0" y="0"/>
                </a:moveTo>
                <a:lnTo>
                  <a:pt x="10517743" y="0"/>
                </a:lnTo>
                <a:lnTo>
                  <a:pt x="10517743" y="6693109"/>
                </a:lnTo>
                <a:lnTo>
                  <a:pt x="0" y="6693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56542" y="1238250"/>
            <a:ext cx="9600236" cy="2868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000"/>
              </a:lnSpc>
            </a:pPr>
            <a:r>
              <a:rPr lang="en-US" sz="11111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Prompt Engineering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525301" y="4547758"/>
            <a:ext cx="10517742" cy="6693109"/>
          </a:xfrm>
          <a:custGeom>
            <a:avLst/>
            <a:gdLst/>
            <a:ahLst/>
            <a:cxnLst/>
            <a:rect r="r" b="b" t="t" l="l"/>
            <a:pathLst>
              <a:path h="6693109" w="10517742">
                <a:moveTo>
                  <a:pt x="0" y="0"/>
                </a:moveTo>
                <a:lnTo>
                  <a:pt x="10517743" y="0"/>
                </a:lnTo>
                <a:lnTo>
                  <a:pt x="10517743" y="6693109"/>
                </a:lnTo>
                <a:lnTo>
                  <a:pt x="0" y="6693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921182" y="5086350"/>
            <a:ext cx="5735596" cy="320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sz="308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The system uses:</a:t>
            </a:r>
          </a:p>
          <a:p>
            <a:pPr algn="l" marL="665245" indent="-332623" lvl="1">
              <a:lnSpc>
                <a:spcPts val="4313"/>
              </a:lnSpc>
              <a:buFont typeface="Arial"/>
              <a:buChar char="•"/>
            </a:pPr>
            <a:r>
              <a:rPr lang="en-US" sz="308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Fixed system prompt</a:t>
            </a:r>
          </a:p>
          <a:p>
            <a:pPr algn="l" marL="665245" indent="-332623" lvl="1">
              <a:lnSpc>
                <a:spcPts val="4313"/>
              </a:lnSpc>
              <a:buFont typeface="Arial"/>
              <a:buChar char="•"/>
            </a:pPr>
            <a:r>
              <a:rPr lang="en-US" sz="308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Student information</a:t>
            </a:r>
          </a:p>
          <a:p>
            <a:pPr algn="l" marL="665245" indent="-332623" lvl="1">
              <a:lnSpc>
                <a:spcPts val="4313"/>
              </a:lnSpc>
              <a:buFont typeface="Arial"/>
              <a:buChar char="•"/>
            </a:pPr>
            <a:r>
              <a:rPr lang="en-US" sz="308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Few-shot examples</a:t>
            </a:r>
          </a:p>
          <a:p>
            <a:pPr algn="l" marL="665245" indent="-332623" lvl="1">
              <a:lnSpc>
                <a:spcPts val="4313"/>
              </a:lnSpc>
              <a:buFont typeface="Arial"/>
              <a:buChar char="•"/>
            </a:pPr>
            <a:r>
              <a:rPr lang="en-US" sz="308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Knowledge-base context</a:t>
            </a:r>
          </a:p>
          <a:p>
            <a:pPr algn="l" marL="665245" indent="-332623" lvl="1">
              <a:lnSpc>
                <a:spcPts val="4313"/>
              </a:lnSpc>
              <a:spcBef>
                <a:spcPct val="0"/>
              </a:spcBef>
              <a:buFont typeface="Arial"/>
              <a:buChar char="•"/>
            </a:pPr>
            <a:r>
              <a:rPr lang="en-US" sz="308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Risk-factor-specific guidance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26934" y="8110928"/>
            <a:ext cx="3238971" cy="3308265"/>
          </a:xfrm>
          <a:custGeom>
            <a:avLst/>
            <a:gdLst/>
            <a:ahLst/>
            <a:cxnLst/>
            <a:rect r="r" b="b" t="t" l="l"/>
            <a:pathLst>
              <a:path h="3308265" w="3238971">
                <a:moveTo>
                  <a:pt x="0" y="0"/>
                </a:moveTo>
                <a:lnTo>
                  <a:pt x="3238971" y="0"/>
                </a:lnTo>
                <a:lnTo>
                  <a:pt x="3238971" y="3308265"/>
                </a:lnTo>
                <a:lnTo>
                  <a:pt x="0" y="33082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661302" y="1200150"/>
            <a:ext cx="11598921" cy="222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59"/>
              </a:lnSpc>
            </a:pPr>
            <a:r>
              <a:rPr lang="en-US" sz="8646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Application Prototype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13292" y="981075"/>
            <a:ext cx="5915190" cy="856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2"/>
              </a:lnSpc>
            </a:pPr>
            <a:r>
              <a:rPr lang="en-US" sz="273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User Interaction</a:t>
            </a:r>
          </a:p>
          <a:p>
            <a:pPr algn="ctr">
              <a:lnSpc>
                <a:spcPts val="3822"/>
              </a:lnSpc>
            </a:pPr>
          </a:p>
          <a:p>
            <a:pPr algn="ctr">
              <a:lnSpc>
                <a:spcPts val="3822"/>
              </a:lnSpc>
            </a:pPr>
            <a:r>
              <a:rPr lang="en-US" sz="273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Basic Workflow</a:t>
            </a:r>
          </a:p>
          <a:p>
            <a:pPr algn="ctr">
              <a:lnSpc>
                <a:spcPts val="3822"/>
              </a:lnSpc>
            </a:pPr>
          </a:p>
          <a:p>
            <a:pPr algn="ctr">
              <a:lnSpc>
                <a:spcPts val="3822"/>
              </a:lnSpc>
            </a:pPr>
            <a:r>
              <a:rPr lang="en-US" sz="273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Enter Student Information</a:t>
            </a:r>
          </a:p>
          <a:p>
            <a:pPr algn="ctr">
              <a:lnSpc>
                <a:spcPts val="3822"/>
              </a:lnSpc>
            </a:pPr>
            <a:r>
              <a:rPr lang="en-US" sz="273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↓</a:t>
            </a:r>
          </a:p>
          <a:p>
            <a:pPr algn="ctr">
              <a:lnSpc>
                <a:spcPts val="3822"/>
              </a:lnSpc>
            </a:pPr>
            <a:r>
              <a:rPr lang="en-US" sz="273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Validate Input</a:t>
            </a:r>
          </a:p>
          <a:p>
            <a:pPr algn="ctr">
              <a:lnSpc>
                <a:spcPts val="3822"/>
              </a:lnSpc>
            </a:pPr>
            <a:r>
              <a:rPr lang="en-US" sz="273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↓</a:t>
            </a:r>
          </a:p>
          <a:p>
            <a:pPr algn="ctr">
              <a:lnSpc>
                <a:spcPts val="3822"/>
              </a:lnSpc>
            </a:pPr>
            <a:r>
              <a:rPr lang="en-US" sz="273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Generate Prediction</a:t>
            </a:r>
          </a:p>
          <a:p>
            <a:pPr algn="ctr">
              <a:lnSpc>
                <a:spcPts val="3822"/>
              </a:lnSpc>
            </a:pPr>
            <a:r>
              <a:rPr lang="en-US" sz="273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↓</a:t>
            </a:r>
          </a:p>
          <a:p>
            <a:pPr algn="ctr">
              <a:lnSpc>
                <a:spcPts val="3822"/>
              </a:lnSpc>
            </a:pPr>
            <a:r>
              <a:rPr lang="en-US" sz="273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Identify Risk Factors</a:t>
            </a:r>
          </a:p>
          <a:p>
            <a:pPr algn="ctr">
              <a:lnSpc>
                <a:spcPts val="3822"/>
              </a:lnSpc>
            </a:pPr>
            <a:r>
              <a:rPr lang="en-US" sz="273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↓</a:t>
            </a:r>
          </a:p>
          <a:p>
            <a:pPr algn="ctr">
              <a:lnSpc>
                <a:spcPts val="3822"/>
              </a:lnSpc>
            </a:pPr>
            <a:r>
              <a:rPr lang="en-US" sz="273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Retrieve Guidance</a:t>
            </a:r>
          </a:p>
          <a:p>
            <a:pPr algn="ctr">
              <a:lnSpc>
                <a:spcPts val="3822"/>
              </a:lnSpc>
            </a:pPr>
            <a:r>
              <a:rPr lang="en-US" sz="273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↓</a:t>
            </a:r>
          </a:p>
          <a:p>
            <a:pPr algn="ctr">
              <a:lnSpc>
                <a:spcPts val="3822"/>
              </a:lnSpc>
            </a:pPr>
            <a:r>
              <a:rPr lang="en-US" sz="273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Generate AI Recommendation</a:t>
            </a:r>
          </a:p>
          <a:p>
            <a:pPr algn="ctr">
              <a:lnSpc>
                <a:spcPts val="3822"/>
              </a:lnSpc>
            </a:pPr>
            <a:r>
              <a:rPr lang="en-US" sz="273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↓</a:t>
            </a:r>
          </a:p>
          <a:p>
            <a:pPr algn="ctr">
              <a:lnSpc>
                <a:spcPts val="3822"/>
              </a:lnSpc>
            </a:pPr>
            <a:r>
              <a:rPr lang="en-US" sz="273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Display Results</a:t>
            </a:r>
          </a:p>
          <a:p>
            <a:pPr algn="ctr">
              <a:lnSpc>
                <a:spcPts val="3822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410558" y="4038333"/>
            <a:ext cx="5108888" cy="429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Prototype Features</a:t>
            </a:r>
          </a:p>
          <a:p>
            <a:pPr algn="l" marL="592556" indent="-296278" lvl="1">
              <a:lnSpc>
                <a:spcPts val="3842"/>
              </a:lnSpc>
              <a:buFont typeface="Arial"/>
              <a:buChar char="•"/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Student information input</a:t>
            </a:r>
          </a:p>
          <a:p>
            <a:pPr algn="l" marL="592556" indent="-296278" lvl="1">
              <a:lnSpc>
                <a:spcPts val="3842"/>
              </a:lnSpc>
              <a:buFont typeface="Arial"/>
              <a:buChar char="•"/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Input validation</a:t>
            </a:r>
          </a:p>
          <a:p>
            <a:pPr algn="l" marL="592556" indent="-296278" lvl="1">
              <a:lnSpc>
                <a:spcPts val="3842"/>
              </a:lnSpc>
              <a:buFont typeface="Arial"/>
              <a:buChar char="•"/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ML pr</a:t>
            </a: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ediction</a:t>
            </a:r>
          </a:p>
          <a:p>
            <a:pPr algn="l" marL="592556" indent="-296278" lvl="1">
              <a:lnSpc>
                <a:spcPts val="3842"/>
              </a:lnSpc>
              <a:buFont typeface="Arial"/>
              <a:buChar char="•"/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Risk-factor identification</a:t>
            </a:r>
          </a:p>
          <a:p>
            <a:pPr algn="l" marL="592556" indent="-296278" lvl="1">
              <a:lnSpc>
                <a:spcPts val="3842"/>
              </a:lnSpc>
              <a:buFont typeface="Arial"/>
              <a:buChar char="•"/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Knowledge-base retrieval</a:t>
            </a:r>
          </a:p>
          <a:p>
            <a:pPr algn="l" marL="592556" indent="-296278" lvl="1">
              <a:lnSpc>
                <a:spcPts val="3842"/>
              </a:lnSpc>
              <a:buFont typeface="Arial"/>
              <a:buChar char="•"/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AI-generated intervention recommendation</a:t>
            </a:r>
          </a:p>
          <a:p>
            <a:pPr algn="l" marL="592556" indent="-296278" lvl="1">
              <a:lnSpc>
                <a:spcPts val="3842"/>
              </a:lnSpc>
              <a:spcBef>
                <a:spcPct val="0"/>
              </a:spcBef>
              <a:buFont typeface="Arial"/>
              <a:buChar char="•"/>
            </a:pPr>
            <a:r>
              <a:rPr lang="en-US" sz="274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Result display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00" t="0" r="-100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162586" y="7238205"/>
            <a:ext cx="8911630" cy="6464983"/>
          </a:xfrm>
          <a:custGeom>
            <a:avLst/>
            <a:gdLst/>
            <a:ahLst/>
            <a:cxnLst/>
            <a:rect r="r" b="b" t="t" l="l"/>
            <a:pathLst>
              <a:path h="6464983" w="8911630">
                <a:moveTo>
                  <a:pt x="0" y="0"/>
                </a:moveTo>
                <a:lnTo>
                  <a:pt x="8911630" y="0"/>
                </a:lnTo>
                <a:lnTo>
                  <a:pt x="8911630" y="6464983"/>
                </a:lnTo>
                <a:lnTo>
                  <a:pt x="0" y="64649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07992" y="-3232491"/>
            <a:ext cx="8911630" cy="6464983"/>
          </a:xfrm>
          <a:custGeom>
            <a:avLst/>
            <a:gdLst/>
            <a:ahLst/>
            <a:cxnLst/>
            <a:rect r="r" b="b" t="t" l="l"/>
            <a:pathLst>
              <a:path h="6464983" w="8911630">
                <a:moveTo>
                  <a:pt x="0" y="0"/>
                </a:moveTo>
                <a:lnTo>
                  <a:pt x="8911631" y="0"/>
                </a:lnTo>
                <a:lnTo>
                  <a:pt x="8911631" y="6464982"/>
                </a:lnTo>
                <a:lnTo>
                  <a:pt x="0" y="64649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74680" y="2152919"/>
            <a:ext cx="6379985" cy="440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59"/>
              </a:lnSpc>
            </a:pPr>
            <a:r>
              <a:rPr lang="en-US" sz="8646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Testing &amp; AI Workflow Validation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02803" y="3048036"/>
            <a:ext cx="5607614" cy="638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8"/>
              </a:lnSpc>
            </a:pPr>
            <a:r>
              <a:rPr lang="en-US" sz="3034" b="true">
                <a:solidFill>
                  <a:srgbClr val="F4F6F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Functional Testing</a:t>
            </a:r>
          </a:p>
          <a:p>
            <a:pPr algn="just">
              <a:lnSpc>
                <a:spcPts val="4248"/>
              </a:lnSpc>
            </a:pPr>
          </a:p>
          <a:p>
            <a:pPr algn="just">
              <a:lnSpc>
                <a:spcPts val="4248"/>
              </a:lnSpc>
            </a:pPr>
            <a:r>
              <a:rPr lang="en-US" sz="3034">
                <a:solidFill>
                  <a:srgbClr val="F4F6FC"/>
                </a:solidFill>
                <a:latin typeface="Proxima Nova"/>
                <a:ea typeface="Proxima Nova"/>
                <a:cs typeface="Proxima Nova"/>
                <a:sym typeface="Proxima Nova"/>
              </a:rPr>
              <a:t>The system tested:</a:t>
            </a:r>
          </a:p>
          <a:p>
            <a:pPr algn="just" marL="655152" indent="-327576" lvl="1">
              <a:lnSpc>
                <a:spcPts val="4248"/>
              </a:lnSpc>
              <a:buFont typeface="Arial"/>
              <a:buChar char="•"/>
            </a:pPr>
            <a:r>
              <a:rPr lang="en-US" sz="3034">
                <a:solidFill>
                  <a:srgbClr val="F4F6FC"/>
                </a:solidFill>
                <a:latin typeface="Proxima Nova"/>
                <a:ea typeface="Proxima Nova"/>
                <a:cs typeface="Proxima Nova"/>
                <a:sym typeface="Proxima Nova"/>
              </a:rPr>
              <a:t>Valid student information</a:t>
            </a:r>
          </a:p>
          <a:p>
            <a:pPr algn="just" marL="655152" indent="-327576" lvl="1">
              <a:lnSpc>
                <a:spcPts val="4248"/>
              </a:lnSpc>
              <a:buFont typeface="Arial"/>
              <a:buChar char="•"/>
            </a:pPr>
            <a:r>
              <a:rPr lang="en-US" sz="3034">
                <a:solidFill>
                  <a:srgbClr val="F4F6FC"/>
                </a:solidFill>
                <a:latin typeface="Proxima Nova"/>
                <a:ea typeface="Proxima Nova"/>
                <a:cs typeface="Proxima Nova"/>
                <a:sym typeface="Proxima Nova"/>
              </a:rPr>
              <a:t>Invalid student ID</a:t>
            </a:r>
          </a:p>
          <a:p>
            <a:pPr algn="just" marL="655152" indent="-327576" lvl="1">
              <a:lnSpc>
                <a:spcPts val="4248"/>
              </a:lnSpc>
              <a:buFont typeface="Arial"/>
              <a:buChar char="•"/>
            </a:pPr>
            <a:r>
              <a:rPr lang="en-US" sz="3034">
                <a:solidFill>
                  <a:srgbClr val="F4F6FC"/>
                </a:solidFill>
                <a:latin typeface="Proxima Nova"/>
                <a:ea typeface="Proxima Nova"/>
                <a:cs typeface="Proxima Nova"/>
                <a:sym typeface="Proxima Nova"/>
              </a:rPr>
              <a:t>Non-numeric input</a:t>
            </a:r>
          </a:p>
          <a:p>
            <a:pPr algn="just" marL="655152" indent="-327576" lvl="1">
              <a:lnSpc>
                <a:spcPts val="4248"/>
              </a:lnSpc>
              <a:buFont typeface="Arial"/>
              <a:buChar char="•"/>
            </a:pPr>
            <a:r>
              <a:rPr lang="en-US" sz="3034">
                <a:solidFill>
                  <a:srgbClr val="F4F6FC"/>
                </a:solidFill>
                <a:latin typeface="Proxima Nova"/>
                <a:ea typeface="Proxima Nova"/>
                <a:cs typeface="Proxima Nova"/>
                <a:sym typeface="Proxima Nova"/>
              </a:rPr>
              <a:t>Empty input</a:t>
            </a:r>
          </a:p>
          <a:p>
            <a:pPr algn="just" marL="655152" indent="-327576" lvl="1">
              <a:lnSpc>
                <a:spcPts val="4248"/>
              </a:lnSpc>
              <a:buFont typeface="Arial"/>
              <a:buChar char="•"/>
            </a:pPr>
            <a:r>
              <a:rPr lang="en-US" sz="3034">
                <a:solidFill>
                  <a:srgbClr val="F4F6FC"/>
                </a:solidFill>
                <a:latin typeface="Proxima Nova"/>
                <a:ea typeface="Proxima Nova"/>
                <a:cs typeface="Proxima Nova"/>
                <a:sym typeface="Proxima Nova"/>
              </a:rPr>
              <a:t>Model loading</a:t>
            </a:r>
          </a:p>
          <a:p>
            <a:pPr algn="just" marL="655152" indent="-327576" lvl="1">
              <a:lnSpc>
                <a:spcPts val="4248"/>
              </a:lnSpc>
              <a:buFont typeface="Arial"/>
              <a:buChar char="•"/>
            </a:pPr>
            <a:r>
              <a:rPr lang="en-US" sz="3034">
                <a:solidFill>
                  <a:srgbClr val="F4F6FC"/>
                </a:solidFill>
                <a:latin typeface="Proxima Nova"/>
                <a:ea typeface="Proxima Nova"/>
                <a:cs typeface="Proxima Nova"/>
                <a:sym typeface="Proxima Nova"/>
              </a:rPr>
              <a:t>Knowledge-base loading</a:t>
            </a:r>
          </a:p>
          <a:p>
            <a:pPr algn="just" marL="655152" indent="-327576" lvl="1">
              <a:lnSpc>
                <a:spcPts val="4248"/>
              </a:lnSpc>
              <a:buFont typeface="Arial"/>
              <a:buChar char="•"/>
            </a:pPr>
            <a:r>
              <a:rPr lang="en-US" sz="3034">
                <a:solidFill>
                  <a:srgbClr val="F4F6FC"/>
                </a:solidFill>
                <a:latin typeface="Proxima Nova"/>
                <a:ea typeface="Proxima Nova"/>
                <a:cs typeface="Proxima Nova"/>
                <a:sym typeface="Proxima Nova"/>
              </a:rPr>
              <a:t>Low-risk profile</a:t>
            </a:r>
          </a:p>
          <a:p>
            <a:pPr algn="just" marL="655152" indent="-327576" lvl="1">
              <a:lnSpc>
                <a:spcPts val="4248"/>
              </a:lnSpc>
              <a:buFont typeface="Arial"/>
              <a:buChar char="•"/>
            </a:pPr>
            <a:r>
              <a:rPr lang="en-US" sz="3034">
                <a:solidFill>
                  <a:srgbClr val="F4F6FC"/>
                </a:solidFill>
                <a:latin typeface="Proxima Nova"/>
                <a:ea typeface="Proxima Nova"/>
                <a:cs typeface="Proxima Nova"/>
                <a:sym typeface="Proxima Nova"/>
              </a:rPr>
              <a:t>Medium-risk profile</a:t>
            </a:r>
          </a:p>
          <a:p>
            <a:pPr algn="just" marL="655152" indent="-327576" lvl="1">
              <a:lnSpc>
                <a:spcPts val="4248"/>
              </a:lnSpc>
              <a:spcBef>
                <a:spcPct val="0"/>
              </a:spcBef>
              <a:buFont typeface="Arial"/>
              <a:buChar char="•"/>
            </a:pPr>
            <a:r>
              <a:rPr lang="en-US" sz="3034">
                <a:solidFill>
                  <a:srgbClr val="F4F6FC"/>
                </a:solidFill>
                <a:latin typeface="Proxima Nova"/>
                <a:ea typeface="Proxima Nova"/>
                <a:cs typeface="Proxima Nova"/>
                <a:sym typeface="Proxima Nova"/>
              </a:rPr>
              <a:t>High-risk profile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247385" y="6850166"/>
            <a:ext cx="6472238" cy="6472237"/>
          </a:xfrm>
          <a:custGeom>
            <a:avLst/>
            <a:gdLst/>
            <a:ahLst/>
            <a:cxnLst/>
            <a:rect r="r" b="b" t="t" l="l"/>
            <a:pathLst>
              <a:path h="6472237" w="6472238">
                <a:moveTo>
                  <a:pt x="0" y="0"/>
                </a:moveTo>
                <a:lnTo>
                  <a:pt x="6472238" y="0"/>
                </a:lnTo>
                <a:lnTo>
                  <a:pt x="6472238" y="6472238"/>
                </a:lnTo>
                <a:lnTo>
                  <a:pt x="0" y="64722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00" t="0" r="-1000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16669" y="1200150"/>
            <a:ext cx="12693191" cy="222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59"/>
              </a:lnSpc>
            </a:pPr>
            <a:r>
              <a:rPr lang="en-US" sz="8646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Testing &amp; AI Workflow Validation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25338" y="3954221"/>
            <a:ext cx="4037324" cy="51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Workflow Test Profiles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93888" y="5292350"/>
            <a:ext cx="768558" cy="51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Risk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29325" y="5292350"/>
            <a:ext cx="896745" cy="51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GPA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52055" y="5292350"/>
            <a:ext cx="2146567" cy="51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Attendance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8620" y="5292350"/>
            <a:ext cx="3716857" cy="51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Missed Assignments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51431" y="5292350"/>
            <a:ext cx="3716857" cy="51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Participation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93888" y="6374105"/>
            <a:ext cx="14837071" cy="51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8"/>
              </a:lnSpc>
              <a:spcBef>
                <a:spcPct val="0"/>
              </a:spcBef>
            </a:pPr>
            <a:r>
              <a:rPr lang="en-US" sz="303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Low                 3.4                    91%                              0                                        8/10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93888" y="7455860"/>
            <a:ext cx="14837071" cy="51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8"/>
              </a:lnSpc>
              <a:spcBef>
                <a:spcPct val="0"/>
              </a:spcBef>
            </a:pPr>
            <a:r>
              <a:rPr lang="en-US" sz="303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Medium          2.6                    78%                             2                                        5/10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93888" y="8537616"/>
            <a:ext cx="14837071" cy="51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8"/>
              </a:lnSpc>
              <a:spcBef>
                <a:spcPct val="0"/>
              </a:spcBef>
            </a:pPr>
            <a:r>
              <a:rPr lang="en-US" sz="303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High                1.9                     60%                            4                                        3/10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028700" y="6104902"/>
            <a:ext cx="1570225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3616014" y="5349500"/>
            <a:ext cx="0" cy="373363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H="true" flipV="true">
            <a:off x="5540420" y="5349500"/>
            <a:ext cx="0" cy="373363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H="true" flipV="true">
            <a:off x="8543621" y="5349500"/>
            <a:ext cx="0" cy="373363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H="true" flipV="true">
            <a:off x="13228454" y="5317453"/>
            <a:ext cx="0" cy="373363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11" r="0" b="-8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72671" y="838111"/>
            <a:ext cx="10742659" cy="205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7"/>
              </a:lnSpc>
            </a:pPr>
            <a:r>
              <a:rPr lang="en-US" sz="8008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Model Performance &amp; Evaluation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29198" y="3209313"/>
            <a:ext cx="4229604" cy="51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Random Forest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9094" y="4249301"/>
            <a:ext cx="3585270" cy="51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Overall Performance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2287" y="6141112"/>
            <a:ext cx="16619300" cy="51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  <a:spcBef>
                <a:spcPct val="0"/>
              </a:spcBef>
            </a:pPr>
            <a:r>
              <a:rPr lang="en-US" sz="303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Accuracy                      44.62%                                    Distinction             0.36             0.01         0.01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87" y="6940335"/>
            <a:ext cx="16619300" cy="51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  <a:spcBef>
                <a:spcPct val="0"/>
              </a:spcBef>
            </a:pPr>
            <a:r>
              <a:rPr lang="en-US" sz="303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Weighted Precision          0.43                                    Fail                         0.41             0.06          0.11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5873" y="7739559"/>
            <a:ext cx="16655713" cy="51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  <a:spcBef>
                <a:spcPct val="0"/>
              </a:spcBef>
            </a:pPr>
            <a:r>
              <a:rPr lang="en-US" sz="303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Weighted Recall               0.45                                     Pass                      0.44             0.73          0.55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5873" y="8537892"/>
            <a:ext cx="16655713" cy="51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  <a:spcBef>
                <a:spcPct val="0"/>
              </a:spcBef>
            </a:pPr>
            <a:r>
              <a:rPr lang="en-US" sz="303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Weighted F1-score           0.38                                     Withdrawn            0.46            0.49          0.48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53913" y="4249301"/>
            <a:ext cx="3275806" cy="51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Class</a:t>
            </a:r>
            <a:r>
              <a:rPr lang="en-US" b="true" sz="3034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Performance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87" y="5195206"/>
            <a:ext cx="16875673" cy="51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Metric                             Result                                    Class              Precision          Recall         F1</a:t>
            </a:r>
          </a:p>
        </p:txBody>
      </p:sp>
      <p:sp>
        <p:nvSpPr>
          <p:cNvPr name="AutoShape 12" id="12"/>
          <p:cNvSpPr/>
          <p:nvPr/>
        </p:nvSpPr>
        <p:spPr>
          <a:xfrm>
            <a:off x="672686" y="5708680"/>
            <a:ext cx="585288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9430123" y="5727730"/>
            <a:ext cx="777674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>
            <a:off x="4510459" y="5252356"/>
            <a:ext cx="0" cy="383130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1576205" y="5252356"/>
            <a:ext cx="0" cy="383130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4003923" y="5309995"/>
            <a:ext cx="0" cy="383130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6047080" y="5309995"/>
            <a:ext cx="0" cy="383130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44539" y="903896"/>
            <a:ext cx="11598921" cy="222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59"/>
              </a:lnSpc>
            </a:pPr>
            <a:r>
              <a:rPr lang="en-US" sz="8646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Limitations &amp; Future Work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77636" y="4246758"/>
            <a:ext cx="7250585" cy="4993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1"/>
              </a:lnSpc>
            </a:pPr>
            <a:r>
              <a:rPr lang="en-US" sz="2643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Limitations</a:t>
            </a:r>
          </a:p>
          <a:p>
            <a:pPr algn="l">
              <a:lnSpc>
                <a:spcPts val="3701"/>
              </a:lnSpc>
            </a:pPr>
          </a:p>
          <a:p>
            <a:pPr algn="l" marL="550761" indent="-275380" lvl="1">
              <a:lnSpc>
                <a:spcPts val="3571"/>
              </a:lnSpc>
              <a:buFont typeface="Arial"/>
              <a:buChar char="•"/>
            </a:pPr>
            <a:r>
              <a:rPr lang="en-US" sz="255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Mode</a:t>
            </a:r>
            <a:r>
              <a:rPr lang="en-US" sz="255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rate model accuracy</a:t>
            </a:r>
          </a:p>
          <a:p>
            <a:pPr algn="l" marL="550761" indent="-275380" lvl="1">
              <a:lnSpc>
                <a:spcPts val="3571"/>
              </a:lnSpc>
              <a:buFont typeface="Arial"/>
              <a:buChar char="•"/>
            </a:pPr>
            <a:r>
              <a:rPr lang="en-US" sz="255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Limited feature set</a:t>
            </a:r>
          </a:p>
          <a:p>
            <a:pPr algn="l" marL="550761" indent="-275380" lvl="1">
              <a:lnSpc>
                <a:spcPts val="3571"/>
              </a:lnSpc>
              <a:buFont typeface="Arial"/>
              <a:buChar char="•"/>
            </a:pPr>
            <a:r>
              <a:rPr lang="en-US" sz="255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Class imbalance</a:t>
            </a:r>
          </a:p>
          <a:p>
            <a:pPr algn="l" marL="550761" indent="-275380" lvl="1">
              <a:lnSpc>
                <a:spcPts val="3571"/>
              </a:lnSpc>
              <a:buFont typeface="Arial"/>
              <a:buChar char="•"/>
            </a:pPr>
            <a:r>
              <a:rPr lang="en-US" sz="255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OULAD represe</a:t>
            </a:r>
            <a:r>
              <a:rPr lang="en-US" sz="255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nts a specific educational </a:t>
            </a:r>
            <a:r>
              <a:rPr lang="en-US" sz="255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environment</a:t>
            </a:r>
          </a:p>
          <a:p>
            <a:pPr algn="l" marL="550761" indent="-275380" lvl="1">
              <a:lnSpc>
                <a:spcPts val="3571"/>
              </a:lnSpc>
              <a:buFont typeface="Arial"/>
              <a:buChar char="•"/>
            </a:pPr>
            <a:r>
              <a:rPr lang="en-US" sz="255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Pro</a:t>
            </a:r>
            <a:r>
              <a:rPr lang="en-US" sz="255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totype rather than production system</a:t>
            </a:r>
          </a:p>
          <a:p>
            <a:pPr algn="l" marL="550761" indent="-275380" lvl="1">
              <a:lnSpc>
                <a:spcPts val="3571"/>
              </a:lnSpc>
              <a:buFont typeface="Arial"/>
              <a:buChar char="•"/>
            </a:pPr>
            <a:r>
              <a:rPr lang="en-US" sz="255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Ru</a:t>
            </a:r>
            <a:r>
              <a:rPr lang="en-US" sz="255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le-based thresholds require validation</a:t>
            </a:r>
          </a:p>
          <a:p>
            <a:pPr algn="l" marL="550761" indent="-275380" lvl="1">
              <a:lnSpc>
                <a:spcPts val="3571"/>
              </a:lnSpc>
              <a:spcBef>
                <a:spcPct val="0"/>
              </a:spcBef>
              <a:buFont typeface="Arial"/>
              <a:buChar char="•"/>
            </a:pPr>
            <a:r>
              <a:rPr lang="en-US" sz="255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G</a:t>
            </a:r>
            <a:r>
              <a:rPr lang="en-US" sz="255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enerative AI depends on prompt/context/API behaviour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24607" y="4040698"/>
            <a:ext cx="7534693" cy="5375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1"/>
              </a:lnSpc>
            </a:pPr>
            <a:r>
              <a:rPr lang="en-US" sz="2643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Future Improvements</a:t>
            </a:r>
          </a:p>
          <a:p>
            <a:pPr algn="l">
              <a:lnSpc>
                <a:spcPts val="3281"/>
              </a:lnSpc>
            </a:pPr>
          </a:p>
          <a:p>
            <a:pPr algn="l" marL="506059" indent="-253030" lvl="1">
              <a:lnSpc>
                <a:spcPts val="3281"/>
              </a:lnSpc>
              <a:buFont typeface="Arial"/>
              <a:buChar char="•"/>
            </a:pPr>
            <a:r>
              <a:rPr lang="en-US" sz="2343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Ad</a:t>
            </a:r>
            <a:r>
              <a:rPr lang="en-US" sz="2343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</a:t>
            </a:r>
            <a:r>
              <a:rPr lang="en-US" sz="2343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VLE activity data</a:t>
            </a:r>
          </a:p>
          <a:p>
            <a:pPr algn="l" marL="506059" indent="-253030" lvl="1">
              <a:lnSpc>
                <a:spcPts val="3281"/>
              </a:lnSpc>
              <a:buFont typeface="Arial"/>
              <a:buChar char="•"/>
            </a:pPr>
            <a:r>
              <a:rPr lang="en-US" sz="2343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Include assignment submission patterns</a:t>
            </a:r>
          </a:p>
          <a:p>
            <a:pPr algn="l" marL="506059" indent="-253030" lvl="1">
              <a:lnSpc>
                <a:spcPts val="3281"/>
              </a:lnSpc>
              <a:buFont typeface="Arial"/>
              <a:buChar char="•"/>
            </a:pPr>
            <a:r>
              <a:rPr lang="en-US" sz="2343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Use historical academic performance</a:t>
            </a:r>
          </a:p>
          <a:p>
            <a:pPr algn="l" marL="506059" indent="-253030" lvl="1">
              <a:lnSpc>
                <a:spcPts val="3281"/>
              </a:lnSpc>
              <a:buFont typeface="Arial"/>
              <a:buChar char="•"/>
            </a:pPr>
            <a:r>
              <a:rPr lang="en-US" sz="2343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Compare XGBoos</a:t>
            </a:r>
            <a:r>
              <a:rPr lang="en-US" sz="2343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t, Gradient Boosting, SVM and Neural Networks</a:t>
            </a:r>
          </a:p>
          <a:p>
            <a:pPr algn="l" marL="506059" indent="-253030" lvl="1">
              <a:lnSpc>
                <a:spcPts val="3281"/>
              </a:lnSpc>
              <a:buFont typeface="Arial"/>
              <a:buChar char="•"/>
            </a:pPr>
            <a:r>
              <a:rPr lang="en-US" sz="2343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Apply SMOTE/o</a:t>
            </a:r>
            <a:r>
              <a:rPr lang="en-US" sz="2343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versampling</a:t>
            </a:r>
          </a:p>
          <a:p>
            <a:pPr algn="l" marL="506059" indent="-253030" lvl="1">
              <a:lnSpc>
                <a:spcPts val="3281"/>
              </a:lnSpc>
              <a:buFont typeface="Arial"/>
              <a:buChar char="•"/>
            </a:pPr>
            <a:r>
              <a:rPr lang="en-US" sz="2343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Int</a:t>
            </a:r>
            <a:r>
              <a:rPr lang="en-US" sz="2343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roduc</a:t>
            </a:r>
            <a:r>
              <a:rPr lang="en-US" sz="2343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 real-time university data</a:t>
            </a:r>
          </a:p>
          <a:p>
            <a:pPr algn="l" marL="506059" indent="-253030" lvl="1">
              <a:lnSpc>
                <a:spcPts val="3281"/>
              </a:lnSpc>
              <a:buFont typeface="Arial"/>
              <a:buChar char="•"/>
            </a:pPr>
            <a:r>
              <a:rPr lang="en-US" sz="2343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Improve UI/dashboard</a:t>
            </a:r>
          </a:p>
          <a:p>
            <a:pPr algn="l" marL="506059" indent="-253030" lvl="1">
              <a:lnSpc>
                <a:spcPts val="3281"/>
              </a:lnSpc>
              <a:buFont typeface="Arial"/>
              <a:buChar char="•"/>
            </a:pPr>
            <a:r>
              <a:rPr lang="en-US" sz="2343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Add database integration</a:t>
            </a:r>
          </a:p>
          <a:p>
            <a:pPr algn="l" marL="506059" indent="-253030" lvl="1">
              <a:lnSpc>
                <a:spcPts val="3281"/>
              </a:lnSpc>
              <a:spcBef>
                <a:spcPct val="0"/>
              </a:spcBef>
              <a:buFont typeface="Arial"/>
              <a:buChar char="•"/>
            </a:pPr>
            <a:r>
              <a:rPr lang="en-US" sz="2343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Conduct evaluation with students, lecturers and advisors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00" t="0" r="-1000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39797" y="2273326"/>
            <a:ext cx="11008406" cy="152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2"/>
              </a:lnSpc>
            </a:pPr>
            <a:r>
              <a:rPr lang="en-US" b="true" sz="12387">
                <a:solidFill>
                  <a:srgbClr val="FFFFFF"/>
                </a:solidFill>
                <a:latin typeface="Sarpanch Ultra-Bold"/>
                <a:ea typeface="Sarpanch Ultra-Bold"/>
                <a:cs typeface="Sarpanch Ultra-Bold"/>
                <a:sym typeface="Sarpanch Ultra-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0526" y="4884282"/>
            <a:ext cx="15086948" cy="2464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8"/>
              </a:lnSpc>
              <a:spcBef>
                <a:spcPct val="0"/>
              </a:spcBef>
            </a:pPr>
            <a:r>
              <a:rPr lang="en-US" b="true" sz="2820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The project successfully demonstrates an integrated AI workflow combining:</a:t>
            </a:r>
          </a:p>
          <a:p>
            <a:pPr algn="ctr">
              <a:lnSpc>
                <a:spcPts val="3948"/>
              </a:lnSpc>
              <a:spcBef>
                <a:spcPct val="0"/>
              </a:spcBef>
            </a:pPr>
            <a:r>
              <a:rPr lang="en-US" b="true" sz="2820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Machine Learning + Rule-Based Reasoning + Knowledge Base + Prompt Engineering + Generative AI</a:t>
            </a:r>
          </a:p>
          <a:p>
            <a:pPr algn="ctr">
              <a:lnSpc>
                <a:spcPts val="3948"/>
              </a:lnSpc>
              <a:spcBef>
                <a:spcPct val="0"/>
              </a:spcBef>
            </a:pPr>
            <a:r>
              <a:rPr lang="en-US" b="true" sz="2820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The key contribution is moving from prediction alone toward action-oriented academic intervention.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41979" y="3489368"/>
            <a:ext cx="3238971" cy="3308265"/>
          </a:xfrm>
          <a:custGeom>
            <a:avLst/>
            <a:gdLst/>
            <a:ahLst/>
            <a:cxnLst/>
            <a:rect r="r" b="b" t="t" l="l"/>
            <a:pathLst>
              <a:path h="3308265" w="3238971">
                <a:moveTo>
                  <a:pt x="0" y="0"/>
                </a:moveTo>
                <a:lnTo>
                  <a:pt x="3238971" y="0"/>
                </a:lnTo>
                <a:lnTo>
                  <a:pt x="3238971" y="3308264"/>
                </a:lnTo>
                <a:lnTo>
                  <a:pt x="0" y="33082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12520" y="4556478"/>
            <a:ext cx="7643499" cy="152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2"/>
              </a:lnSpc>
            </a:pPr>
            <a:r>
              <a:rPr lang="en-US" b="true" sz="12387">
                <a:solidFill>
                  <a:srgbClr val="FFFFFF"/>
                </a:solidFill>
                <a:latin typeface="Sarpanch Ultra-Bold"/>
                <a:ea typeface="Sarpanch Ultra-Bold"/>
                <a:cs typeface="Sarpanch Ultra-Bold"/>
                <a:sym typeface="Sarpanch Ultra-Bold"/>
              </a:rPr>
              <a:t>THANK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37760" y="4556478"/>
            <a:ext cx="4962507" cy="152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2"/>
              </a:lnSpc>
            </a:pPr>
            <a:r>
              <a:rPr lang="en-US" b="true" sz="12387">
                <a:solidFill>
                  <a:srgbClr val="FFFFFF"/>
                </a:solidFill>
                <a:latin typeface="Sarpanch Ultra-Bold"/>
                <a:ea typeface="Sarpanch Ultra-Bold"/>
                <a:cs typeface="Sarpanch Ultra-Bold"/>
                <a:sym typeface="Sarpanch Ultra-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DAHUZDGvC_E</dc:identifier>
  <dcterms:modified xsi:type="dcterms:W3CDTF">2011-08-01T06:04:30Z</dcterms:modified>
  <cp:revision>1</cp:revision>
  <dc:title>Template-Based Presentation</dc:title>
</cp:coreProperties>
</file>